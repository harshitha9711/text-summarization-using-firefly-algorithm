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F245D5-BAF1-4F3B-A3EB-CCB16CCBC2F8}" v="2" dt="2026-03-26T16:46:11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Harshitha Mettu" userId="9a4ffac7518e7a82" providerId="LiveId" clId="{75C77260-79FA-4554-A445-A3014AD0E2E1}"/>
    <pc:docChg chg="custSel modSld">
      <pc:chgData name="Sai Harshitha Mettu" userId="9a4ffac7518e7a82" providerId="LiveId" clId="{75C77260-79FA-4554-A445-A3014AD0E2E1}" dt="2026-03-27T06:27:00.656" v="179" actId="20577"/>
      <pc:docMkLst>
        <pc:docMk/>
      </pc:docMkLst>
      <pc:sldChg chg="modSp mod">
        <pc:chgData name="Sai Harshitha Mettu" userId="9a4ffac7518e7a82" providerId="LiveId" clId="{75C77260-79FA-4554-A445-A3014AD0E2E1}" dt="2026-03-27T06:27:00.656" v="179" actId="20577"/>
        <pc:sldMkLst>
          <pc:docMk/>
          <pc:sldMk cId="0" sldId="256"/>
        </pc:sldMkLst>
        <pc:spChg chg="mod">
          <ac:chgData name="Sai Harshitha Mettu" userId="9a4ffac7518e7a82" providerId="LiveId" clId="{75C77260-79FA-4554-A445-A3014AD0E2E1}" dt="2026-03-27T06:27:00.656" v="179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i Harshitha Mettu" userId="9a4ffac7518e7a82" providerId="LiveId" clId="{75C77260-79FA-4554-A445-A3014AD0E2E1}" dt="2026-03-27T06:24:27.766" v="60" actId="313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Algorithm Comparison – Rouge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Rouge Score (%)</c:v>
                </c:pt>
              </c:strCache>
            </c:strRef>
          </c:tx>
          <c:spPr>
            <a:solidFill>
              <a:srgbClr val="5A7A9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7A-4E59-B708-CF6F78723703}"/>
              </c:ext>
            </c:extLst>
          </c:dPt>
          <c:dPt>
            <c:idx val="1"/>
            <c:invertIfNegative val="0"/>
            <c:bubble3D val="0"/>
            <c:spPr>
              <a:solidFill>
                <a:srgbClr val="1B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7A-4E59-B708-CF6F78723703}"/>
              </c:ext>
            </c:extLst>
          </c:dPt>
          <c:dPt>
            <c:idx val="2"/>
            <c:invertIfNegative val="0"/>
            <c:bubble3D val="0"/>
            <c:spPr>
              <a:solidFill>
                <a:srgbClr val="F4A4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7A-4E59-B708-CF6F7872370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9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Seq2Seq</c:v>
                </c:pt>
                <c:pt idx="1">
                  <c:v>Transformer</c:v>
                </c:pt>
                <c:pt idx="2">
                  <c:v>FA + Transformer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61</c:v>
                </c:pt>
                <c:pt idx="2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17A-4E59-B708-CF6F787237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9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9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643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25281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71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4029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4998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69210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8533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4479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3722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4807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091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873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306547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38690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60323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17634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54946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02325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41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278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76423" y="21771"/>
            <a:ext cx="256032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/>
              <a:t>Presented </a:t>
            </a:r>
            <a:r>
              <a:rPr lang="en-IN" dirty="0"/>
              <a:t>by: </a:t>
            </a:r>
          </a:p>
          <a:p>
            <a:r>
              <a:rPr lang="en-IN" dirty="0"/>
              <a:t>M. Sai Harshitha</a:t>
            </a:r>
          </a:p>
          <a:p>
            <a:r>
              <a:rPr lang="en-IN" dirty="0"/>
              <a:t>(247R1A05W3)</a:t>
            </a:r>
          </a:p>
          <a:p>
            <a:r>
              <a:rPr lang="en-IN" dirty="0"/>
              <a:t>L. Shiva Sai</a:t>
            </a:r>
          </a:p>
          <a:p>
            <a:r>
              <a:rPr lang="en-IN" dirty="0"/>
              <a:t>(247R1A05V6)</a:t>
            </a:r>
          </a:p>
          <a:p>
            <a:r>
              <a:rPr lang="en-IN" dirty="0"/>
              <a:t>S. Hasini</a:t>
            </a:r>
          </a:p>
          <a:p>
            <a:r>
              <a:rPr lang="en-IN" dirty="0"/>
              <a:t>(247R1A05Y3)</a:t>
            </a:r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  <p:txBody>
          <a:bodyPr/>
          <a:lstStyle/>
          <a:p>
            <a:r>
              <a:rPr lang="en-IN" dirty="0"/>
              <a:t>Under the Guidance: G. Swarnalatha – Assistant Professor</a:t>
            </a:r>
          </a:p>
        </p:txBody>
      </p:sp>
      <p:sp>
        <p:nvSpPr>
          <p:cNvPr id="4" name="Shape 2"/>
          <p:cNvSpPr/>
          <p:nvPr/>
        </p:nvSpPr>
        <p:spPr>
          <a:xfrm>
            <a:off x="6766560" y="365760"/>
            <a:ext cx="320040" cy="320040"/>
          </a:xfrm>
          <a:prstGeom prst="ellipse">
            <a:avLst/>
          </a:prstGeom>
          <a:solidFill>
            <a:srgbClr val="F4A425">
              <a:alpha val="50000"/>
            </a:srgbClr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365760"/>
            <a:ext cx="320040" cy="320040"/>
          </a:xfrm>
          <a:prstGeom prst="ellipse">
            <a:avLst/>
          </a:prstGeom>
          <a:solidFill>
            <a:srgbClr val="F4A425">
              <a:alpha val="50000"/>
            </a:srgbClr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365760"/>
            <a:ext cx="320040" cy="320040"/>
          </a:xfrm>
          <a:prstGeom prst="ellipse">
            <a:avLst/>
          </a:prstGeom>
          <a:solidFill>
            <a:srgbClr val="F4A425">
              <a:alpha val="50000"/>
            </a:srgbClr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1005840"/>
            <a:ext cx="320040" cy="320040"/>
          </a:xfrm>
          <a:prstGeom prst="ellipse">
            <a:avLst/>
          </a:prstGeom>
          <a:solidFill>
            <a:srgbClr val="F4A425">
              <a:alpha val="50000"/>
            </a:srgbClr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1005840"/>
            <a:ext cx="320040" cy="320040"/>
          </a:xfrm>
          <a:prstGeom prst="ellipse">
            <a:avLst/>
          </a:prstGeom>
          <a:solidFill>
            <a:srgbClr val="F4A425">
              <a:alpha val="50000"/>
            </a:srgbClr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1005840"/>
            <a:ext cx="320040" cy="320040"/>
          </a:xfrm>
          <a:prstGeom prst="ellipse">
            <a:avLst/>
          </a:prstGeom>
          <a:solidFill>
            <a:srgbClr val="F4A425">
              <a:alpha val="50000"/>
            </a:srgbClr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7315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Firefly Algorithm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3657600" cy="4572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23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Nature-Inspired Optimization for NLP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study on integrating the Firefly Algorithm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enhance text summarization quality and efficiency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0972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91640" y="3749040"/>
            <a:ext cx="10972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3749040"/>
            <a:ext cx="10972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60520" y="3749040"/>
            <a:ext cx="10972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84497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Research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657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1463040" cy="292608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Firefly Algorithm (FA) — a nature-inspired optimization technique — to enhance efficiency and effectiveness of text summarization in NLP.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FA's parallelism and global exploration to optimize sentence selection &amp; arrangement, outperforming traditional optimization methods.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384048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371600"/>
            <a:ext cx="64008" cy="68580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389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46320" y="2212848"/>
            <a:ext cx="384048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212848"/>
            <a:ext cx="64008" cy="68580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231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3054096"/>
            <a:ext cx="384048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54096"/>
            <a:ext cx="64008" cy="68580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072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3328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Firefly (FA)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46320" y="3895344"/>
            <a:ext cx="384048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895344"/>
            <a:ext cx="64008" cy="68580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45811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show superior summarization quality &amp; computational efficiency compared to state-of-the-art methods.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Approaches to Text Summarization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" cy="160020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99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Methods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70992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top-ranked sentences using TF-IDF, graph-based ranking (TextRank) or statistical scoring — simple but misses semantic coherence.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54864" cy="160020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399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 Methods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70992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sentences (seq2seq, transformer models). More human-like but computationally intensive and prone to hallucinations.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08960"/>
            <a:ext cx="54864" cy="160020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182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Optimization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349300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algorithms and rule-based sentence selection. Quick, but suboptimal — cannot explore the full solution space.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31089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108960"/>
            <a:ext cx="54864" cy="160020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3182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ML Models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49300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 with attention, LSTM-based encoders. Achieve moderate Rouge scores (~55%) but lack global optimization ability.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of Existing Systems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 Identified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657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71600"/>
            <a:ext cx="4114800" cy="1554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64008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Inefficiency in Optimization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techniques struggle with the complex, vast search space of sentence selection, yielding suboptimal summary quality.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114800" cy="1554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64008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Limited Global Exploration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828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fail to explore the entire solution space, missing potentially better sentence combinations and global optima.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114800" cy="1554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64008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Dependency on Heuristics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heuristic approaches fails to capture nuanced inter-sentence relationships — causing omissions or irrelevant inclusions.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114800" cy="1554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08960"/>
            <a:ext cx="64008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Scalability Challenges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566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struggle with growing data volumes, leading to increased computational costs and longer processing times.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Firefly Algorithm-Based Text Summarization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141732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1417320" cy="64008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37360" y="1719072"/>
            <a:ext cx="274320" cy="109728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1325880"/>
            <a:ext cx="141732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325880"/>
            <a:ext cx="1417320" cy="64008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389888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1719072"/>
            <a:ext cx="274320" cy="109728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1325880"/>
            <a:ext cx="141732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03320" y="1325880"/>
            <a:ext cx="1417320" cy="64008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1389888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1719072"/>
            <a:ext cx="274320" cy="109728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1325880"/>
            <a:ext cx="141732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1325880"/>
            <a:ext cx="1417320" cy="64008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389888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12280" y="1719072"/>
            <a:ext cx="274320" cy="109728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6600" y="1325880"/>
            <a:ext cx="141732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86600" y="1325880"/>
            <a:ext cx="1417320" cy="64008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1389888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5146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514600"/>
            <a:ext cx="54864" cy="109728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587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" y="28986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 evaluates multiple sentence combinations simultaneously, reducing time complexity.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25146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514600"/>
            <a:ext cx="54864" cy="109728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587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Exploration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64608" y="28986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Fireflies attracted to brighter (better) solutions — ensuring comprehensive space search.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37490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749040"/>
            <a:ext cx="54864" cy="109728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Selection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" y="41330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 ranked dynamically based on relevance, position &amp; semantic score.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54880" y="37490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749040"/>
            <a:ext cx="54864" cy="109728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64608" y="41330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large datasets efficiently through its swarm-based parallel execution model.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Proposed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Firefly Algorithm Excels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657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2743200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1508760"/>
            <a:ext cx="411480" cy="411480"/>
          </a:xfrm>
          <a:prstGeom prst="ellipse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5087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Optimization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96596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 explores the full solution space ensuring the globally optimal sentence selection, far superior to local-search heuristics.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743200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5848" y="1508760"/>
            <a:ext cx="411480" cy="411480"/>
          </a:xfrm>
          <a:prstGeom prst="ellipse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15087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Sentence Selection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55848" y="196596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selection &amp; arrangement captures most relevant and informative content, overcoming heuristic shortcomings.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371600"/>
            <a:ext cx="2743200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1928" y="1508760"/>
            <a:ext cx="411480" cy="411480"/>
          </a:xfrm>
          <a:prstGeom prst="ellipse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15087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Scalability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81928" y="196596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and adaptability allow efficient handling of large datasets with faster processing times.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063240"/>
            <a:ext cx="2743200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3200400"/>
            <a:ext cx="411480" cy="411480"/>
          </a:xfrm>
          <a:prstGeom prst="ellipse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2004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Accuracy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9768" y="365760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validation shows Transformer + FA achieves 61% Rouge score vs. 55% Seq2Seq — a measurable improvement.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3063240"/>
            <a:ext cx="2743200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5848" y="3200400"/>
            <a:ext cx="411480" cy="411480"/>
          </a:xfrm>
          <a:prstGeom prst="ellipse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0" y="32004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 &amp; Adaptable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55848" y="365760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multiple summarization models (extractive &amp; abstractive), highlighting broad applicability.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3063240"/>
            <a:ext cx="2743200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1928" y="3200400"/>
            <a:ext cx="411480" cy="411480"/>
          </a:xfrm>
          <a:prstGeom prst="ellipse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1928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66560" y="32004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Nature-Inspired Robustness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81928" y="365760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firefly flashing behavior — inherently parallel, convergent, and resilient to local minima traps.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393192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HARDWARE REQUIREMENTS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7744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Pentium IV 2.4 GHz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3931920" cy="438912"/>
          </a:xfrm>
          <a:prstGeom prst="rect">
            <a:avLst/>
          </a:prstGeom>
          <a:solidFill>
            <a:srgbClr val="EAF3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12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Disk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77440" y="2212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GB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77440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MB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3931920" cy="438912"/>
          </a:xfrm>
          <a:prstGeom prst="rect">
            <a:avLst/>
          </a:prstGeom>
          <a:solidFill>
            <a:srgbClr val="EAF3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37744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15" VGA Colour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84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Floppy Drive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377440" y="3584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 MB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3931920" cy="438912"/>
          </a:xfrm>
          <a:prstGeom prst="rect">
            <a:avLst/>
          </a:prstGeom>
          <a:solidFill>
            <a:srgbClr val="EAF3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41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377440" y="4041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Logitech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46320" y="1325880"/>
            <a:ext cx="393192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325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SOFTWARE REQUIREMENTS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1737360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46320" y="2194560"/>
            <a:ext cx="3931920" cy="438912"/>
          </a:xfrm>
          <a:prstGeom prst="rect">
            <a:avLst/>
          </a:prstGeom>
          <a:solidFill>
            <a:srgbClr val="EAF3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212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858000" y="2212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3.7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846320" y="2651760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858000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NLTK, Scikit-learn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846320" y="3108960"/>
            <a:ext cx="3931920" cy="438912"/>
          </a:xfrm>
          <a:prstGeom prst="rect">
            <a:avLst/>
          </a:prstGeom>
          <a:solidFill>
            <a:srgbClr val="EAF3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8580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Seq2Seq, Transformer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846320" y="3566160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584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858000" y="3584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DailyMail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846320" y="4023360"/>
            <a:ext cx="3931920" cy="438912"/>
          </a:xfrm>
          <a:prstGeom prst="rect">
            <a:avLst/>
          </a:prstGeom>
          <a:solidFill>
            <a:srgbClr val="EAF3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4041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858000" y="4041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Score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of the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Research Unique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657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8046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71600"/>
            <a:ext cx="64008" cy="80467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54480"/>
            <a:ext cx="365760" cy="365760"/>
          </a:xfrm>
          <a:prstGeom prst="ellipse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444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FA Application in Text Summarization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77393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is among the first to systematically apply the Firefly Algorithm specifically to the sentence selection problem in text summarization.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8046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286000"/>
            <a:ext cx="64008" cy="80467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468880"/>
            <a:ext cx="365760" cy="365760"/>
          </a:xfrm>
          <a:prstGeom prst="ellipse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59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Intelligence for NLP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68833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swarm intelligence / bio-inspired computing and natural language processing — an underexplored intersection.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8412480" cy="8046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00400"/>
            <a:ext cx="64008" cy="80467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383280"/>
            <a:ext cx="365760" cy="365760"/>
          </a:xfrm>
          <a:prstGeom prst="ellipse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273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vs. Local Optimization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60273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greedy or beam-search methods, FA guarantees broader exploration of the solution space — moving beyond local optima.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8412480" cy="8046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114800"/>
            <a:ext cx="64008" cy="80467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297680"/>
            <a:ext cx="365760" cy="365760"/>
          </a:xfrm>
          <a:prstGeom prst="ellipse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187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Integration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51713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 optimization layer is designed to plug into both extractive and abstractive summarization frameworks without architectural changes.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of the Proposed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256032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560320"/>
            <a:ext cx="2560320" cy="914400"/>
          </a:xfrm>
          <a:prstGeom prst="rect">
            <a:avLst/>
          </a:prstGeom>
          <a:solidFill>
            <a:srgbClr val="EAF3FB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560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(Tokenize, Stop-word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657600"/>
            <a:ext cx="2560320" cy="914400"/>
          </a:xfrm>
          <a:prstGeom prst="rect">
            <a:avLst/>
          </a:prstGeom>
          <a:solidFill>
            <a:srgbClr val="EAF3FB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3657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(TF-IDF, Position,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2011680"/>
            <a:ext cx="2560320" cy="914400"/>
          </a:xfrm>
          <a:prstGeom prst="rect">
            <a:avLst/>
          </a:prstGeom>
          <a:solidFill>
            <a:srgbClr val="F4A425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2011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3291840"/>
            <a:ext cx="2560320" cy="914400"/>
          </a:xfrm>
          <a:prstGeom prst="rect">
            <a:avLst/>
          </a:prstGeom>
          <a:solidFill>
            <a:srgbClr val="EAF3FB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3291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011680"/>
            <a:ext cx="256032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2011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291840"/>
            <a:ext cx="2560320" cy="914400"/>
          </a:xfrm>
          <a:prstGeom prst="rect">
            <a:avLst/>
          </a:prstGeom>
          <a:solidFill>
            <a:srgbClr val="2D9C6A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3291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34640" y="2423160"/>
            <a:ext cx="548640" cy="9144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3749040"/>
            <a:ext cx="548640" cy="9144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2423160"/>
            <a:ext cx="548640" cy="9144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3291840"/>
            <a:ext cx="548640" cy="9144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08760" y="2377440"/>
            <a:ext cx="91440" cy="201168"/>
          </a:xfrm>
          <a:prstGeom prst="rect">
            <a:avLst/>
          </a:prstGeom>
          <a:solidFill>
            <a:srgbClr val="5A7A99"/>
          </a:solidFill>
          <a:ln w="12700">
            <a:solidFill>
              <a:srgbClr val="5A7A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08760" y="3474720"/>
            <a:ext cx="91440" cy="201168"/>
          </a:xfrm>
          <a:prstGeom prst="rect">
            <a:avLst/>
          </a:prstGeom>
          <a:solidFill>
            <a:srgbClr val="5A7A99"/>
          </a:solidFill>
          <a:ln w="12700">
            <a:solidFill>
              <a:srgbClr val="5A7A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Input → Pre-process → Feature Extract → FA Optimization → Sentence Ranking → Summary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 Breakdown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657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420624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53312"/>
            <a:ext cx="64008" cy="109728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44752"/>
            <a:ext cx="502920" cy="34747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44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4447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&amp; Upload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8562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CNN/DailyMail dataset. User uploads via UI. Supports batch processing of multiple documents.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353312"/>
            <a:ext cx="420624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353312"/>
            <a:ext cx="64008" cy="109728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444752"/>
            <a:ext cx="502920" cy="34747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44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14447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Module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8562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stop-word removal, stemming &amp; embedding vector generation from raw text.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2587752"/>
            <a:ext cx="420624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587752"/>
            <a:ext cx="64008" cy="109728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79192"/>
            <a:ext cx="502920" cy="34747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791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26791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09067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TF-IDF weights, sentence position scores, and cosine similarity between sentences.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2587752"/>
            <a:ext cx="420624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587752"/>
            <a:ext cx="64008" cy="109728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2679192"/>
            <a:ext cx="502920" cy="34747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6791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26791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Firefly Optimization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09067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FA engine: fireflies represent sentence subsets; brightness = summary quality; attraction drives convergence.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0040" y="3822192"/>
            <a:ext cx="420624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822192"/>
            <a:ext cx="64008" cy="109728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913632"/>
            <a:ext cx="502920" cy="34747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9136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" y="39136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43251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Seq2Seq (LSTM) and Transformer models; FA optimizer applied during sentence selection phase.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54880" y="3822192"/>
            <a:ext cx="420624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822192"/>
            <a:ext cx="64008" cy="1097280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0" y="3913632"/>
            <a:ext cx="502920" cy="34747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9136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0" y="39136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Generation &amp; Evaluation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92040" y="43251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final summary; evaluates using Rouge-1, Rouge-2, Rouge-L scores; displays comparison graph.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– Use Case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interactions with the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" y="2971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E63DF40-5166-BAD0-F617-D4F26EBD3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619" y="1120140"/>
            <a:ext cx="593407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6621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– Class Diagram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DocumentLoader</a:t>
            </a:r>
            <a:endParaRPr lang="en-US" sz="13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D7083EB-1635-E85E-A1B0-D2157C01E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0" y="638629"/>
            <a:ext cx="9040899" cy="44050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– Sequence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flow between system components</a:t>
            </a:r>
            <a:endParaRPr lang="en-US" sz="1300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8CA8A280-D875-D8C6-E983-2D9880B46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815" y="1294710"/>
            <a:ext cx="4925112" cy="34104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– Activity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of the Summarization Process</a:t>
            </a:r>
            <a:endParaRPr lang="en-US" sz="14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B6D7F0BD-62B4-859E-CC75-9F3F228C9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412" y="1115568"/>
            <a:ext cx="5449060" cy="39343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88620" y="7121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 – Firefly Algorithm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850392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64692"/>
            <a:ext cx="8229600" cy="4178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as np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firefly_summarize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(text, n_fireflies=20, iterations=50):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0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sentences = tokenize(text)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297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Initialize firefly positions (sentence subsets)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population = [random_subset(sentences) for _ in range(n_fireflies)]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range(iterations):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brightness = [rouge_score(p, reference) for p in population]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range(n_fireflies):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j in range(n_fireflies):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brightness[j] &gt; brightness[i]: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0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population[i] = attract(population[i], population[j])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best_idx = np.argmax(brightness)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0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 '.join(population[best_idx])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Evaluation &amp; Performance Metrics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8016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280160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280160"/>
            <a:ext cx="54864" cy="749808"/>
          </a:xfrm>
          <a:prstGeom prst="rect">
            <a:avLst/>
          </a:prstGeom>
          <a:solidFill>
            <a:srgbClr val="5A7A99"/>
          </a:solidFill>
          <a:ln w="12700">
            <a:solidFill>
              <a:srgbClr val="5A7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325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812280" y="1335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 Accuracy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12280" y="1627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LSTM-based baseline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0" y="2148840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0" y="2148840"/>
            <a:ext cx="54864" cy="749808"/>
          </a:xfrm>
          <a:prstGeom prst="rect">
            <a:avLst/>
          </a:prstGeom>
          <a:solidFill>
            <a:srgbClr val="5A7A99"/>
          </a:solidFill>
          <a:ln w="12700">
            <a:solidFill>
              <a:srgbClr val="5A7A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2194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812280" y="22037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Rouge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12280" y="2496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0" y="3017520"/>
            <a:ext cx="320040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0" y="3017520"/>
            <a:ext cx="54864" cy="749808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3063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68%*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812280" y="3072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 + Transformer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12280" y="3364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669280" y="3886200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669280" y="3886200"/>
            <a:ext cx="54864" cy="749808"/>
          </a:xfrm>
          <a:prstGeom prst="rect">
            <a:avLst/>
          </a:prstGeom>
          <a:solidFill>
            <a:srgbClr val="5A7A99"/>
          </a:solidFill>
          <a:ln w="12700">
            <a:solidFill>
              <a:srgbClr val="5A7A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3931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6812280" y="39410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812280" y="4233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Seq2Seq baseline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Estimated improvement based on FA's global optimization advantage over standard Transformer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Enhancement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 and Road Ahead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657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4114800" cy="3566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98448"/>
            <a:ext cx="4114800" cy="34747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98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 integration improves summarization quality significantly
</a:t>
            </a:r>
            <a:r>
              <a:rPr lang="en-US" sz="1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optimization capabilities address existing system gaps
</a:t>
            </a:r>
            <a:r>
              <a:rPr lang="en-US" sz="1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scalability for large datasets
</a:t>
            </a:r>
            <a:r>
              <a:rPr lang="en-US" sz="1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 — adaptable to multiple summarization models
</a:t>
            </a:r>
            <a:r>
              <a:rPr lang="en-US" sz="1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CNN/DailyMail benchmark datasets
</a:t>
            </a:r>
            <a:r>
              <a:rPr lang="en-US" sz="1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Nature-inspired algorithms show strong NLP potential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4114800" cy="3566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298448"/>
            <a:ext cx="4114800" cy="347472"/>
          </a:xfrm>
          <a:prstGeom prst="rect">
            <a:avLst/>
          </a:prstGeom>
          <a:solidFill>
            <a:srgbClr val="2D9C6A"/>
          </a:solidFill>
          <a:ln w="12700">
            <a:solidFill>
              <a:srgbClr val="2D9C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298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783080"/>
            <a:ext cx="274320" cy="274320"/>
          </a:xfrm>
          <a:prstGeom prst="ellipse">
            <a:avLst/>
          </a:prstGeom>
          <a:solidFill>
            <a:srgbClr val="2D9C6A"/>
          </a:solidFill>
          <a:ln w="12700">
            <a:solidFill>
              <a:srgbClr val="2D9C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783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fine-tuning for better convergence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286000"/>
            <a:ext cx="274320" cy="274320"/>
          </a:xfrm>
          <a:prstGeom prst="ellipse">
            <a:avLst/>
          </a:prstGeom>
          <a:solidFill>
            <a:srgbClr val="2D9C6A"/>
          </a:solidFill>
          <a:ln w="12700">
            <a:solidFill>
              <a:srgbClr val="2D9C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286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FA + deep learning approaches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788920"/>
            <a:ext cx="274320" cy="274320"/>
          </a:xfrm>
          <a:prstGeom prst="ellipse">
            <a:avLst/>
          </a:prstGeom>
          <a:solidFill>
            <a:srgbClr val="2D9C6A"/>
          </a:solidFill>
          <a:ln w="12700">
            <a:solidFill>
              <a:srgbClr val="2D9C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788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domain-specific dataset testing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291840"/>
            <a:ext cx="274320" cy="274320"/>
          </a:xfrm>
          <a:prstGeom prst="ellipse">
            <a:avLst/>
          </a:prstGeom>
          <a:solidFill>
            <a:srgbClr val="2D9C6A"/>
          </a:solidFill>
          <a:ln w="12700">
            <a:solidFill>
              <a:srgbClr val="2D9C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3291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&amp; customization integration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794760"/>
            <a:ext cx="274320" cy="274320"/>
          </a:xfrm>
          <a:prstGeom prst="ellipse">
            <a:avLst/>
          </a:prstGeom>
          <a:solidFill>
            <a:srgbClr val="2D9C6A"/>
          </a:solidFill>
          <a:ln w="12700">
            <a:solidFill>
              <a:srgbClr val="2D9C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37947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summarization support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4297680"/>
            <a:ext cx="274320" cy="274320"/>
          </a:xfrm>
          <a:prstGeom prst="ellipse">
            <a:avLst/>
          </a:prstGeom>
          <a:solidFill>
            <a:srgbClr val="2D9C6A"/>
          </a:solidFill>
          <a:ln w="12700">
            <a:solidFill>
              <a:srgbClr val="2D9C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4297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summarization for evolving content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Research Citations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53312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53312"/>
            <a:ext cx="54864" cy="5303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7160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Smith, J. A., &amp; Johnson, M. L. "A Survey of Nature-inspired Algorithms in Text Summarization." Journal of Natural Language Processing.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8412480" cy="530352"/>
          </a:xfrm>
          <a:prstGeom prst="rect">
            <a:avLst/>
          </a:prstGeom>
          <a:solidFill>
            <a:srgbClr val="EAF3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65960"/>
            <a:ext cx="54864" cy="5303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842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Brown, D. R., &amp; White, E. K. "Firefly Algorithm: A Comprehensive Review." Evolutionary Computation Journal.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78608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78608"/>
            <a:ext cx="54864" cy="5303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9689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Davis, S. M., &amp; Green, R. J. "Text Summarization Techniques: A Comparative Analysis." Journal of Information Retrieval.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91256"/>
            <a:ext cx="8412480" cy="530352"/>
          </a:xfrm>
          <a:prstGeom prst="rect">
            <a:avLst/>
          </a:prstGeom>
          <a:solidFill>
            <a:srgbClr val="EAF3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91256"/>
            <a:ext cx="54864" cy="5303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954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Carter, M. P., &amp; Lee, J. A. "Enhancing Extractive Summarization using Nature-inspired Algorithms." IEEE Trans. on Computational Intelligence.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803904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803904"/>
            <a:ext cx="54864" cy="5303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221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Turner, L. R., &amp; Hall, B. K. "Optimization Algorithms for Abstractive Text Summarization: A Review." ACM TIST.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416552"/>
            <a:ext cx="8412480" cy="530352"/>
          </a:xfrm>
          <a:prstGeom prst="rect">
            <a:avLst/>
          </a:prstGeom>
          <a:solidFill>
            <a:srgbClr val="EAF3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416552"/>
            <a:ext cx="54864" cy="530352"/>
          </a:xfrm>
          <a:prstGeom prst="rect">
            <a:avLst/>
          </a:prstGeom>
          <a:solidFill>
            <a:srgbClr val="F4A425"/>
          </a:solidFill>
          <a:ln w="12700">
            <a:solidFill>
              <a:srgbClr val="F4A4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348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Yang, X. S. "Firefly Algorithm, Stochastic Test Functions and Design Optimisation." Int. J. Bio-Inspired Computation, 2010.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 using Firefly </a:t>
            </a:r>
            <a:r>
              <a:rPr lang="en-US" sz="120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 </a:t>
            </a:r>
            <a:endParaRPr lang="en-US" sz="1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</TotalTime>
  <Words>1418</Words>
  <Application>Microsoft Office PowerPoint</Application>
  <PresentationFormat>On-screen Show (16:9)</PresentationFormat>
  <Paragraphs>278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Century Gothic</vt:lpstr>
      <vt:lpstr>Consolas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Summarization using Firefly Algorithm</dc:title>
  <dc:subject>PptxGenJS Presentation</dc:subject>
  <dc:creator>PptxGenJS</dc:creator>
  <cp:lastModifiedBy>Sai Harshitha Mettu</cp:lastModifiedBy>
  <cp:revision>3</cp:revision>
  <dcterms:created xsi:type="dcterms:W3CDTF">2026-03-24T09:46:57Z</dcterms:created>
  <dcterms:modified xsi:type="dcterms:W3CDTF">2026-03-27T06:27:06Z</dcterms:modified>
</cp:coreProperties>
</file>